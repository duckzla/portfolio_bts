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7AC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20040" y="146304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8B949E"/>
                </a:solidFill>
              </a:rPr>
              <a:t>VEILLE TECHNOLOGIQUE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320040" y="1828800"/>
            <a:ext cx="8503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Studio Code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320040" y="301752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B4D8"/>
                </a:solidFill>
              </a:rPr>
              <a:t>Fonctionnalités clés · Extensions · Bonnes pratiques · Nouveautés 2024-2025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" name="Text 5"/>
          <p:cNvSpPr/>
          <p:nvPr/>
        </p:nvSpPr>
        <p:spPr>
          <a:xfrm>
            <a:off x="320040" y="4809744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BTS SIO — option SLAM  |  2024-2025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Sommaire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914400" cy="54864"/>
          </a:xfrm>
          <a:prstGeom prst="rect">
            <a:avLst/>
          </a:prstGeom>
          <a:solidFill>
            <a:srgbClr val="007ACC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97280"/>
            <a:ext cx="4114800" cy="100584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64008" cy="1005840"/>
          </a:xfrm>
          <a:prstGeom prst="rect">
            <a:avLst/>
          </a:prstGeom>
          <a:solidFill>
            <a:srgbClr val="007ACC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1704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ACC"/>
                </a:solidFill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14630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Présentation de VSCode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75564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</a:rPr>
              <a:t>Qu'est-ce que c'est ? Pourquoi c'est populaire ?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331720"/>
            <a:ext cx="4114800" cy="100584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331720"/>
            <a:ext cx="64008" cy="1005840"/>
          </a:xfrm>
          <a:prstGeom prst="rect">
            <a:avLst/>
          </a:prstGeom>
          <a:solidFill>
            <a:srgbClr val="007ACC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40487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ACC"/>
                </a:solidFill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02920" y="26974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Interface &amp; fonctionnalités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299008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</a:rPr>
              <a:t>Éditeur, terminal intégré, IntelliSense, débogage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566160"/>
            <a:ext cx="4114800" cy="100584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566160"/>
            <a:ext cx="64008" cy="1005840"/>
          </a:xfrm>
          <a:prstGeom prst="rect">
            <a:avLst/>
          </a:prstGeom>
          <a:solidFill>
            <a:srgbClr val="007ACC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63931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ACC"/>
                </a:solidFill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02920" y="39319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Extensions incontournables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422452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</a:rPr>
              <a:t>Prettier, ESLint, GitLens, Live Server, Docker…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1097280"/>
            <a:ext cx="4114800" cy="100584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1097280"/>
            <a:ext cx="64008" cy="1005840"/>
          </a:xfrm>
          <a:prstGeom prst="rect">
            <a:avLst/>
          </a:prstGeom>
          <a:solidFill>
            <a:srgbClr val="007ACC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11704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ACC"/>
                </a:solidFill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892040" y="14630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Intégration Git &amp; GitHub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92040" y="175564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</a:rPr>
              <a:t>Contrôle de source, GitHub Copilot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2331720"/>
            <a:ext cx="4114800" cy="100584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331720"/>
            <a:ext cx="64008" cy="1005840"/>
          </a:xfrm>
          <a:prstGeom prst="rect">
            <a:avLst/>
          </a:prstGeom>
          <a:solidFill>
            <a:srgbClr val="007ACC"/>
          </a:solidFill>
          <a:ln/>
        </p:spPr>
      </p:sp>
      <p:sp>
        <p:nvSpPr>
          <p:cNvPr id="27" name="Text 25"/>
          <p:cNvSpPr/>
          <p:nvPr/>
        </p:nvSpPr>
        <p:spPr>
          <a:xfrm>
            <a:off x="4892040" y="240487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ACC"/>
                </a:solidFill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892040" y="26974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Nouveautés 2024-2025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92040" y="299008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</a:rPr>
              <a:t>Mises à jour récentes &amp; fonctionnalités émergentes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3566160"/>
            <a:ext cx="4114800" cy="100584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3566160"/>
            <a:ext cx="64008" cy="1005840"/>
          </a:xfrm>
          <a:prstGeom prst="rect">
            <a:avLst/>
          </a:prstGeom>
          <a:solidFill>
            <a:srgbClr val="007ACC"/>
          </a:solidFill>
          <a:ln/>
        </p:spPr>
      </p:sp>
      <p:sp>
        <p:nvSpPr>
          <p:cNvPr id="32" name="Text 30"/>
          <p:cNvSpPr/>
          <p:nvPr/>
        </p:nvSpPr>
        <p:spPr>
          <a:xfrm>
            <a:off x="4892040" y="363931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ACC"/>
                </a:solidFill>
              </a:rPr>
              <a:t>06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4892040" y="39319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Conclusion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892040" y="422452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</a:rPr>
              <a:t>Synthèse &amp; perspectives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01 — Présentation de VSCode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914400" cy="54864"/>
          </a:xfrm>
          <a:prstGeom prst="rect">
            <a:avLst/>
          </a:prstGeom>
          <a:solidFill>
            <a:srgbClr val="007ACC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05840"/>
            <a:ext cx="8412480" cy="96012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64008" cy="9601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51560"/>
            <a:ext cx="8092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</a:rPr>
              <a:t>Visual Studio Code est un éditeur de code source léger, gratuit et open-source développé par Microsoft. Lancé en 2015, il est aujourd'hui l'éditeur n°1 mondial (Stack Overflow Dev Survey 2024 : 73 % des développeurs).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148840"/>
            <a:ext cx="1965960" cy="100584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221284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7ACC"/>
                </a:solidFill>
              </a:rPr>
              <a:t>73 %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26517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des devs l'utilisent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87168" y="2148840"/>
            <a:ext cx="1965960" cy="100584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578608" y="221284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7ACC"/>
                </a:solidFill>
              </a:rPr>
              <a:t>100 k+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578608" y="26517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extensions dispo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08576" y="2148840"/>
            <a:ext cx="1965960" cy="100584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00016" y="221284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7ACC"/>
                </a:solidFill>
              </a:rPr>
              <a:t>Multi-langage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700016" y="26517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JS, Python, PHP…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29984" y="2148840"/>
            <a:ext cx="1965960" cy="100584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21424" y="221284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7ACC"/>
                </a:solidFill>
              </a:rPr>
              <a:t>Gratuit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821424" y="26517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&amp; open-source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3337560"/>
            <a:ext cx="8229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6EDF3"/>
                </a:solidFill>
              </a:rPr>
              <a:t>Multiplateforme : Windows, macOS, Linux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6EDF3"/>
                </a:solidFill>
              </a:rPr>
              <a:t>Basé sur Electron (web tech sous le capot)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6EDF3"/>
                </a:solidFill>
              </a:rPr>
              <a:t>Extensible via un marketplace d'extensions très actif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6EDF3"/>
                </a:solidFill>
              </a:rPr>
              <a:t>Développement actif : une mise à jour mensuelle garantie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02 — Interface &amp; Fonctionnalités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914400" cy="54864"/>
          </a:xfrm>
          <a:prstGeom prst="rect">
            <a:avLst/>
          </a:prstGeom>
          <a:solidFill>
            <a:srgbClr val="007ACC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51560"/>
            <a:ext cx="4114800" cy="11430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7160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16128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IntelliSense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97280" y="150876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Autocomplétion, suggestions de code, documentation inline en temps réel.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1051560"/>
            <a:ext cx="4114800" cy="11430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7160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86400" y="116128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Terminal intégré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5486400" y="150876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Bash, PowerShell, Zsh… directement dans l'éditeur. Support de multiples sessions.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365760" y="2377440"/>
            <a:ext cx="4114800" cy="11430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69748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97280" y="248716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Débogueur intégré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097280" y="283464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Points d'arrêt, inspection de variables, pile d'appels pour JS, Python, PHP…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754880" y="2377440"/>
            <a:ext cx="4114800" cy="11430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697480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486400" y="248716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Contrôle de version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5486400" y="283464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Git intégré nativement : diff, commit, merge, branches depuis la sidebar.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365760" y="3703320"/>
            <a:ext cx="4114800" cy="11430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4023360"/>
            <a:ext cx="457200" cy="4572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097280" y="381304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Multi-curseurs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1097280" y="416052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Édition simultanée à plusieurs endroits, refactoring rapide et puissant.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4754880" y="3703320"/>
            <a:ext cx="4114800" cy="11430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4023360"/>
            <a:ext cx="457200" cy="45720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486400" y="381304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Actions de code</a:t>
            </a:r>
            <a:endParaRPr lang="en-US" sz="1400" dirty="0"/>
          </a:p>
        </p:txBody>
      </p:sp>
      <p:sp>
        <p:nvSpPr>
          <p:cNvPr id="28" name="Text 20"/>
          <p:cNvSpPr/>
          <p:nvPr/>
        </p:nvSpPr>
        <p:spPr>
          <a:xfrm>
            <a:off x="5486400" y="416052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Corrections automatiques, imports manquants, renommage global.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03 — Extensions incontournables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914400" cy="54864"/>
          </a:xfrm>
          <a:prstGeom prst="rect">
            <a:avLst/>
          </a:prstGeom>
          <a:solidFill>
            <a:srgbClr val="007ACC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051560"/>
            <a:ext cx="2743200" cy="18288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27432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11887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B4D8"/>
                </a:solidFill>
              </a:rPr>
              <a:t>FORMATAGE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84048" y="14630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Prettier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84048" y="1856232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Formatage automatique du code selon des règles configurables (JSON, JS, HTML, CSS…).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36392" y="1051560"/>
            <a:ext cx="2743200" cy="18288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36392" y="1051560"/>
            <a:ext cx="2743200" cy="73152"/>
          </a:xfrm>
          <a:prstGeom prst="rect">
            <a:avLst/>
          </a:prstGeom>
          <a:solidFill>
            <a:srgbClr val="F0C040"/>
          </a:solidFill>
          <a:ln/>
        </p:spPr>
      </p:sp>
      <p:sp>
        <p:nvSpPr>
          <p:cNvPr id="12" name="Text 10"/>
          <p:cNvSpPr/>
          <p:nvPr/>
        </p:nvSpPr>
        <p:spPr>
          <a:xfrm>
            <a:off x="3246120" y="11887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0C040"/>
                </a:solidFill>
              </a:rPr>
              <a:t>QUALITÉ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46120" y="14630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ESLint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246120" y="1856232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Détection des erreurs et mauvaises pratiques JavaScript/TypeScript en temps réel.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98464" y="1051560"/>
            <a:ext cx="2743200" cy="18288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98464" y="1051560"/>
            <a:ext cx="2743200" cy="73152"/>
          </a:xfrm>
          <a:prstGeom prst="rect">
            <a:avLst/>
          </a:prstGeom>
          <a:solidFill>
            <a:srgbClr val="E84393"/>
          </a:solidFill>
          <a:ln/>
        </p:spPr>
      </p:sp>
      <p:sp>
        <p:nvSpPr>
          <p:cNvPr id="17" name="Text 15"/>
          <p:cNvSpPr/>
          <p:nvPr/>
        </p:nvSpPr>
        <p:spPr>
          <a:xfrm>
            <a:off x="6108192" y="11887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84393"/>
                </a:solidFill>
              </a:rPr>
              <a:t>GIT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108192" y="14630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GitLens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108192" y="1856232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Annotations Git avancées, historique par ligne, blame, comparaison de branches.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063240"/>
            <a:ext cx="2743200" cy="18288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063240"/>
            <a:ext cx="2743200" cy="73152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32004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FB950"/>
                </a:solidFill>
              </a:rPr>
              <a:t>DEV WEB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84048" y="34747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Live Server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84048" y="3867912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Serveur local avec rechargement automatique du navigateur — parfait pour HTML/CSS.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136392" y="3063240"/>
            <a:ext cx="2743200" cy="18288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136392" y="3063240"/>
            <a:ext cx="2743200" cy="73152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27" name="Text 25"/>
          <p:cNvSpPr/>
          <p:nvPr/>
        </p:nvSpPr>
        <p:spPr>
          <a:xfrm>
            <a:off x="3246120" y="32004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496ED"/>
                </a:solidFill>
              </a:rPr>
              <a:t>DEVOPS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246120" y="34747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Docker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246120" y="3867912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Gérer ses conteneurs, images et compose directement depuis VSCode.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998464" y="3063240"/>
            <a:ext cx="2743200" cy="18288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998464" y="3063240"/>
            <a:ext cx="2743200" cy="73152"/>
          </a:xfrm>
          <a:prstGeom prst="rect">
            <a:avLst/>
          </a:prstGeom>
          <a:solidFill>
            <a:srgbClr val="777BB4"/>
          </a:solidFill>
          <a:ln/>
        </p:spPr>
      </p:sp>
      <p:sp>
        <p:nvSpPr>
          <p:cNvPr id="32" name="Text 30"/>
          <p:cNvSpPr/>
          <p:nvPr/>
        </p:nvSpPr>
        <p:spPr>
          <a:xfrm>
            <a:off x="6108192" y="32004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77BB4"/>
                </a:solidFill>
              </a:rPr>
              <a:t>PHP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108192" y="34747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PHP Intelephense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108192" y="3867912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IntelliSense avancé pour PHP : complétion, diagnostics, navigation dans le code.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04 — Intégration Git &amp; GitHub Copilot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914400" cy="54864"/>
          </a:xfrm>
          <a:prstGeom prst="rect">
            <a:avLst/>
          </a:prstGeom>
          <a:solidFill>
            <a:srgbClr val="007ACC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51560"/>
            <a:ext cx="3931920" cy="379476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51560"/>
            <a:ext cx="3931920" cy="73152"/>
          </a:xfrm>
          <a:prstGeom prst="rect">
            <a:avLst/>
          </a:prstGeom>
          <a:solidFill>
            <a:srgbClr val="3FB95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18872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12344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Git natif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02920" y="187452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</a:rPr>
              <a:t>Voir les fichiers modifiés / staged / untracked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</a:rPr>
              <a:t>Commit, push, pull sans quitter l'éditeur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</a:rPr>
              <a:t>Visualiser les diffs ligne par ligne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</a:rPr>
              <a:t>Gérer les branches et les merges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</a:rPr>
              <a:t>Résoudre les conflits avec un éditeur visuel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846320" y="1051560"/>
            <a:ext cx="3931920" cy="379476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46320" y="1051560"/>
            <a:ext cx="3931920" cy="73152"/>
          </a:xfrm>
          <a:prstGeom prst="rect">
            <a:avLst/>
          </a:prstGeom>
          <a:solidFill>
            <a:srgbClr val="007AC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18872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23560" y="12344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GitHub Copilot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4983480" y="187452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</a:rPr>
              <a:t>IA développée par GitHub × OpenAI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</a:rPr>
              <a:t>Complète du code entier à partir d'un commentaire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</a:rPr>
              <a:t>Chat IA directement dans l'éditeur (Copilot Chat)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</a:rPr>
              <a:t>Explique, refactorise, génère des tests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</a:rPr>
              <a:t>Gratuit pour les étudiants (GitHub Education)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B4D8"/>
                </a:solidFill>
              </a:rPr>
              <a:t>💡 GitHub Education Pack inclut Copilot Pro gratuit pour les étudiants en formation.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05 — Nouveautés 2024-2025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914400" cy="54864"/>
          </a:xfrm>
          <a:prstGeom prst="rect">
            <a:avLst/>
          </a:prstGeom>
          <a:solidFill>
            <a:srgbClr val="007ACC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51560"/>
            <a:ext cx="8412480" cy="59436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51560"/>
            <a:ext cx="64008" cy="594360"/>
          </a:xfrm>
          <a:prstGeom prst="rect">
            <a:avLst/>
          </a:prstGeom>
          <a:solidFill>
            <a:srgbClr val="007ACC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16128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7ACC"/>
                </a:solidFill>
              </a:rPr>
              <a:t>2024.04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508760" y="112471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Profiles améliorés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931920" y="11430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Synchronisation et partage de profils (thèmes, extensions, raccourcis) entre machines.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719072"/>
            <a:ext cx="8412480" cy="59436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719072"/>
            <a:ext cx="64008" cy="5943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82880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B4D8"/>
                </a:solidFill>
              </a:rPr>
              <a:t>2024.06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508760" y="1792224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Copilot Chat inline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931920" y="181051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Interaction directement dans le fichier, sans panel séparé. Édition IA contextuelle.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386584"/>
            <a:ext cx="8412480" cy="59436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386584"/>
            <a:ext cx="64008" cy="59436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49631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FB950"/>
                </a:solidFill>
              </a:rPr>
              <a:t>2024.09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508760" y="245973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Remote Dev amélioré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931920" y="2478024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Meilleur support SSH, WSL, containers Docker — dev en local comme en remote.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054096"/>
            <a:ext cx="8412480" cy="59436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054096"/>
            <a:ext cx="64008" cy="594360"/>
          </a:xfrm>
          <a:prstGeom prst="rect">
            <a:avLst/>
          </a:prstGeom>
          <a:solidFill>
            <a:srgbClr val="FFAA00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16382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AA00"/>
                </a:solidFill>
              </a:rPr>
              <a:t>2024.11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508760" y="312724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Notebooks Jupyter natifs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931920" y="3145536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Support renforcé des .ipynb, exécution cellule par cellule intégrée.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3721608"/>
            <a:ext cx="8412480" cy="59436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721608"/>
            <a:ext cx="64008" cy="594360"/>
          </a:xfrm>
          <a:prstGeom prst="rect">
            <a:avLst/>
          </a:prstGeom>
          <a:solidFill>
            <a:srgbClr val="E84393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383133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84393"/>
                </a:solidFill>
              </a:rPr>
              <a:t>2025.01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508760" y="37947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Agent mode Copilot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931920" y="381304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Copilot peut agir de façon autonome : créer des fichiers, lancer des commandes.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65760" y="4389120"/>
            <a:ext cx="8412480" cy="59436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65760" y="4389120"/>
            <a:ext cx="64008" cy="594360"/>
          </a:xfrm>
          <a:prstGeom prst="rect">
            <a:avLst/>
          </a:prstGeom>
          <a:solidFill>
            <a:srgbClr val="007ACC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449884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7ACC"/>
                </a:solidFill>
              </a:rPr>
              <a:t>2025.03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508760" y="446227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MCP intégré (preview)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931920" y="44805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Model Context Protocol : brancher des outils externes à Copilot (APIs, bases de données).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06 — Conclusion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914400" cy="54864"/>
          </a:xfrm>
          <a:prstGeom prst="rect">
            <a:avLst/>
          </a:prstGeom>
          <a:solidFill>
            <a:srgbClr val="007ACC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05840"/>
            <a:ext cx="8412480" cy="109728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64008" cy="10972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78992"/>
            <a:ext cx="8092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</a:rPr>
              <a:t>VSCode s'est imposé comme l'éditeur de référence pour le développement web et logiciel grâce à sa légèreté, son extensibilité et son écosystème très actif. Pour un développeur en formation (BTS SIO SLAM), c'est l'outil central à maîtriser.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331720"/>
            <a:ext cx="2651760" cy="20574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24231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⚙️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29718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Productivité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333756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IntelliSense, débogueur, terminal, multi-curseurs : tout est là pour coder vite et bien.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82112" y="2331720"/>
            <a:ext cx="2651760" cy="20574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73552" y="24231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🔌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273552" y="29718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Extensibilité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273552" y="333756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Marketplace riche : adaptez VSCode à chaque projet, chaque langage, chaque besoin.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98464" y="2331720"/>
            <a:ext cx="2651760" cy="20574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089904" y="24231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089904" y="29718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IA &amp; futur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089904" y="333756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Copilot, agent mode, MCP : VSCode est déjà le terrain de jeu de l'IA pour les devs.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7ACC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4818888"/>
            <a:ext cx="8412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VSCode — L'éditeur qui grandit avec le développeur  •  code.visualstudio.com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Veille technologique — Visual Studio Code</dc:title>
  <dc:subject>PptxGenJS Presentation</dc:subject>
  <dc:creator>PptxGenJS</dc:creator>
  <cp:lastModifiedBy>PptxGenJS</cp:lastModifiedBy>
  <cp:revision>1</cp:revision>
  <dcterms:created xsi:type="dcterms:W3CDTF">2026-05-13T08:14:11Z</dcterms:created>
  <dcterms:modified xsi:type="dcterms:W3CDTF">2026-05-13T08:14:11Z</dcterms:modified>
</cp:coreProperties>
</file>